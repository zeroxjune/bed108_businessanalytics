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month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F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66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09B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6F9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92934</c:v>
                </c:pt>
                <c:pt idx="1">
                  <c:v>98454</c:v>
                </c:pt>
                <c:pt idx="2">
                  <c:v>121648</c:v>
                </c:pt>
                <c:pt idx="3">
                  <c:v>102477</c:v>
                </c:pt>
                <c:pt idx="4">
                  <c:v>100207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0"/>
        </c:scaling>
        <c:delete val="0"/>
        <c:axPos val="l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2023 → 2024</c:v>
                </c:pt>
              </c:strCache>
            </c:strRef>
          </c:tx>
          <c:spPr>
            <a:solidFill>
              <a:srgbClr val="C16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166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166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166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1666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1666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1666B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Printers</c:v>
                  </c:pt>
                  <c:pt idx="1">
                    <c:v>Elec. Games</c:v>
                  </c:pt>
                  <c:pt idx="2">
                    <c:v>Phones</c:v>
                  </c:pt>
                  <c:pt idx="3">
                    <c:v>Bookcases</c:v>
                  </c:pt>
                  <c:pt idx="4">
                    <c:v>Laptops</c:v>
                  </c:pt>
                  <c:pt idx="5">
                    <c:v>Chairs</c:v>
                  </c:pt>
                  <c:pt idx="6">
                    <c:v>Sofas</c:v>
                  </c:pt>
                  <c:pt idx="7">
                    <c:v>Markers</c:v>
                  </c:pt>
                  <c:pt idx="8">
                    <c:v>Binders</c:v>
                  </c:pt>
                  <c:pt idx="9">
                    <c:v>Pens</c:v>
                  </c:pt>
                  <c:pt idx="10">
                    <c:v>Tables</c:v>
                  </c:pt>
                  <c:pt idx="11">
                    <c:v>Paper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-136865</c:v>
                </c:pt>
                <c:pt idx="1">
                  <c:v>-56467</c:v>
                </c:pt>
                <c:pt idx="2">
                  <c:v>-16383</c:v>
                </c:pt>
                <c:pt idx="3">
                  <c:v>-11855</c:v>
                </c:pt>
                <c:pt idx="4">
                  <c:v>-9974</c:v>
                </c:pt>
                <c:pt idx="5">
                  <c:v>-1526</c:v>
                </c:pt>
                <c:pt idx="6">
                  <c:v>6932</c:v>
                </c:pt>
                <c:pt idx="7">
                  <c:v>19260</c:v>
                </c:pt>
                <c:pt idx="8">
                  <c:v>23569</c:v>
                </c:pt>
                <c:pt idx="9">
                  <c:v>33941</c:v>
                </c:pt>
                <c:pt idx="10">
                  <c:v>36434</c:v>
                </c:pt>
                <c:pt idx="11">
                  <c:v>85689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20.28</c:v>
                </c:pt>
                <c:pt idx="1">
                  <c:v>30.79</c:v>
                </c:pt>
                <c:pt idx="2">
                  <c:v>23.69</c:v>
                </c:pt>
                <c:pt idx="3">
                  <c:v>25.24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Furniture</c:v>
                </c:pt>
              </c:strCache>
            </c:strRef>
          </c:tx>
          <c:spPr>
            <a:solidFill>
              <a:srgbClr val="C1666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16.96</c:v>
                </c:pt>
                <c:pt idx="1">
                  <c:v>29.46</c:v>
                </c:pt>
                <c:pt idx="2">
                  <c:v>22.74</c:v>
                </c:pt>
                <c:pt idx="3">
                  <c:v>30.84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Office Supplies</c:v>
                </c:pt>
              </c:strCache>
            </c:strRef>
          </c:tx>
          <c:spPr>
            <a:solidFill>
              <a:srgbClr val="5B8C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17.01</c:v>
                </c:pt>
                <c:pt idx="1">
                  <c:v>25</c:v>
                </c:pt>
                <c:pt idx="2">
                  <c:v>25.83</c:v>
                </c:pt>
                <c:pt idx="3">
                  <c:v>32.16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</c:scaling>
        <c:delete val="0"/>
        <c:axPos val="l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7B899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High-Value Accounts</c:v>
                  </c:pt>
                  <c:pt idx="1">
                    <c:v>High-Margin Buyers</c:v>
                  </c:pt>
                  <c:pt idx="2">
                    <c:v>Thin-Margin Buyers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18.1</c:v>
                </c:pt>
                <c:pt idx="1">
                  <c:v>38.5</c:v>
                </c:pt>
                <c:pt idx="2">
                  <c:v>43.4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revenue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High-Value Accounts</c:v>
                  </c:pt>
                  <c:pt idx="1">
                    <c:v>High-Margin Buyers</c:v>
                  </c:pt>
                  <c:pt idx="2">
                    <c:v>Thin-Margin Buyers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38.4</c:v>
                </c:pt>
                <c:pt idx="1">
                  <c:v>28.9</c:v>
                </c:pt>
                <c:pt idx="2">
                  <c:v>32.7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% of profit</c:v>
                </c:pt>
              </c:strCache>
            </c:strRef>
          </c:tx>
          <c:spPr>
            <a:solidFill>
              <a:srgbClr val="5B8C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High-Value Accounts</c:v>
                  </c:pt>
                  <c:pt idx="1">
                    <c:v>High-Margin Buyers</c:v>
                  </c:pt>
                  <c:pt idx="2">
                    <c:v>Thin-Margin Buyers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38.7</c:v>
                </c:pt>
                <c:pt idx="1">
                  <c:v>42.6</c:v>
                </c:pt>
                <c:pt idx="2">
                  <c:v>18.7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9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day. We are presenting our BED 106 mini capstone on sales trend analysis. Introduce the three of you by name, then go straight into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name the seven segments, flag that segment four is a live demo,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frames everything. Stress the margin point: it is what turns 'sales fell' into a question worth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questions, then the one-line consequence. Do not linger.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whoever takes the data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synthetic-data point must be said out loud here, before anyone asks. Five signals: no loss-making line in five years; 22 names with credential suffixes; US cities with Indian payment rails; near-uniform payment mix; a flat amount histogram.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for the star: consistency, the brief asks for it, and the queries need category and date on the same row as the amount. Mention the reserved-word trap: year_month broke CREATE TABLE in MySQL until backticked.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correction belongs here: we reported 69.9% growth in Checkpoint 1 and the like-for-like figure is 30.9%. Volunteer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useful thing Checkpoint 1 produced. Let the chart do the work — the red block at the top and the green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it matters: inventory and staffing are planned on the blended curve, so they are mistimed for a third of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2 takes the same dataset into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points only: profit is less predictable than revenue, and the flat shape is evidence the data is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caveat out loud. The negative result on the right is the one worth pausing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250,000 corroboration is the strongest single piece of evidence in the project. Say that sentence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January 2025 came in at 112,906 against a prediction of 68,853. January's index says it is the weakest month; this one was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Power BI here. Select Thin-Margin Buyers on the Page 3 slicer and show the profit share collapse — that is the most persuasive single interaction on the dashboard. Replace the wireframe on this slide with a screenshot of the finished dashboard before the 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three clusters and not five: k=5 scores 0.295 against 0.277, but two of its five came out with the same profile, and the brief asks for two or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4, Task 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problems handled rather than ignored: severe multicollinearity — orders, units and customers are 0.81 to 0.92 correlated, VIF 13.67 — and Breusch-Pagan rejecting constant variance at p = 0.0023, so robust standard errors are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answer to 'so what'. Each one names the measurement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Ninety seconds. The one point to land is that public availability is not consent, and that the ethical risk comes from our own segmentation rather than from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all three before Q&amp;A. Volunteering them is worth more than defending them under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this slide out. It is a prompt for whoever is fielding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574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 Analysis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3580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growing retailer stopped growing — and what the data says to do about it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· Mini Capstone Project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Talibon Polytechnic College · A.Y. 2026–2027, 1st Semester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 · Julebeth · Mardy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74175" y="5715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0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20–25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8249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business context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6824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3042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SQL overview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304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926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926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420624" cy="420624"/>
          </a:xfrm>
          <a:prstGeom prst="ellipse">
            <a:avLst/>
          </a:prstGeom>
          <a:solidFill>
            <a:srgbClr val="D09B3E"/>
          </a:solidFill>
          <a:ln w="12700">
            <a:solidFill>
              <a:srgbClr val="D09B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5478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547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51376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1696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&amp; recommendations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169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47914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governance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7914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5413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defense / Q&amp;A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54132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99855" y="1664208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19895" y="196596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checkpoints of analysis
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1,194 transaction lines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2020 – March 2025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 · 8 SQL queries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months modelled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BUSINESS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 grew, then stopped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multi-category retailer — electronics, furniture, office supplies — trading across six US states.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like-for-like monthly basis revenue rose to a 2022 peak, then fell two years running.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8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+30.9%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58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→ 2022 peak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−17.6%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858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peak → 2024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36192"/>
            <a:ext cx="5242255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8105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why does a falling sales figure need a database?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974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what didn't move.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held between 23.97% and 26.93% for five years. Average order value stayed between 5,008 and 5,444.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margin collapsed, the answer would be "we discounted too hard". It didn't. The company is writing fewer orders, not worse ones.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sales_trend database, Query 3. Synthetic dataset — see Checkpoint 1.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BUSINESS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and every deliverable maps to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115568"/>
          </a:xfrm>
          <a:prstGeom prst="roundRect">
            <a:avLst>
              <a:gd name="adj" fmla="val 655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30552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have revenue and profit trended, and is the company still growing?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Query 3 · CP2 regression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911535" cy="1115568"/>
          </a:xfrm>
          <a:prstGeom prst="roundRect">
            <a:avLst>
              <a:gd name="adj" fmla="val 655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502152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3558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and sub-categories drive the trend?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794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Queries 5 and 7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911535" cy="1115568"/>
          </a:xfrm>
          <a:prstGeom prst="roundRect">
            <a:avLst>
              <a:gd name="adj" fmla="val 655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873752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7274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demand concentrate, and is it the same for every category?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166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Queries 4 and 8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hangs on them: what to stock, when to stock it, where to put the sales effort.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420624" cy="420624"/>
          </a:xfrm>
          <a:prstGeom prst="ellipse">
            <a:avLst/>
          </a:prstGeom>
          <a:solidFill>
            <a:srgbClr val="D09B3E"/>
          </a:solidFill>
          <a:ln w="12700">
            <a:solidFill>
              <a:srgbClr val="D09B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SQL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raw file was, what was wrong with it, and what the database found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&amp; SQL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were wrong with the raw 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093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is not a primary key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9385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1,194 rows, 547 distinct IDs — repeats span different dates and customers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4688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is not an identifier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7980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 customers from 802 names; five names appear in two cities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46704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3284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Year-Month is redundant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6576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Derivable from the date — rebuilt in a dates table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420624" cy="42062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1879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of the file are partial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51713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22 March 2020, stops 15 March 2025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65776"/>
            <a:ext cx="420624" cy="420624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50474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synthetic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53766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machine-checked signals — we say so rather than bury 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1572768"/>
            <a:ext cx="3962095" cy="4114800"/>
          </a:xfrm>
          <a:prstGeom prst="roundRect">
            <a:avLst>
              <a:gd name="adj" fmla="val 184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fixed none of it.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242316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Repairing Order ID means deciding which of two conflicting rows is real, with no evidence for the decision.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data fabrication, which the brief says is grounds for a failing mark.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documented every defect and worked around it. The method is unaffected.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&amp; SQL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 schema, eight tables</a:t>
            </a:r>
            <a:endParaRPr lang="en-US" sz="3200" dirty="0"/>
          </a:p>
        </p:txBody>
      </p:sp>
      <p:pic>
        <p:nvPicPr>
          <p:cNvPr id="4" name="Image 0" descr="/home/user/BED108_BusinessAnalytics/docs/figures/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36192"/>
            <a:ext cx="73152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36192"/>
            <a:ext cx="3322015" cy="4023360"/>
          </a:xfrm>
          <a:prstGeom prst="roundRect">
            <a:avLst>
              <a:gd name="adj" fmla="val 220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8288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fact, 7 dimensions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primary keys
7 foreign keys
6 unique constraints
4 check constraints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to reject bad rows, not assumed to.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Entity-Relationship Diagram of the sales_trend database.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&amp; SQL · FINDING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stopped in 2022 — and in a specific way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687775" cy="3749040"/>
          </a:xfrm>
          <a:prstGeom prst="roundRect">
            <a:avLst>
              <a:gd name="adj" fmla="val 198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per month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33172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holds nine months. Comparing its part-year total against a full 2021 was the one real error we made, and corrected.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never left 24–27%. Average order value never left 5,008–5,444.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orders — not cheaper ones. That points at demand generation, not pricing.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Query 3, revenue per month by year. 2020 = 9 complete months.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&amp; SQL · FINDING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sub-category explains most of the gap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72768"/>
          <a:ext cx="7406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72768"/>
            <a:ext cx="3230575" cy="3977640"/>
          </a:xfrm>
          <a:prstGeom prst="roundRect">
            <a:avLst>
              <a:gd name="adj" fmla="val 226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−71%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5786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Printers, 2023 → 2024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0632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136,865 lost on one line item — over half the entire peak-to-2024 gap.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Electronics sub-category fell. Every Office Supplies sub-category grew.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slowdown. Two opposite trends are running at once, and the company-wide figure is their average — which describes neither.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Query 7, sub-category revenue change 2023 against 2024.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&amp; SQL · FINDING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 is category-specific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7223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13455" cy="3749040"/>
          </a:xfrm>
          <a:prstGeom prst="roundRect">
            <a:avLst>
              <a:gd name="adj" fmla="val 2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874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blended curve is wrong for all three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6974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peaks in Q2 at 30.79% of its own annual revenue.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and Office Supplies peak in Q4.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company-wide planning curve over-stocks Electronics in Q4 and under-stocks it in Q2.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Query 8, each quarter's share of its own category's annual revenue.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420624" cy="420624"/>
          </a:xfrm>
          <a:prstGeom prst="ellipse">
            <a:avLst/>
          </a:prstGeom>
          <a:solidFill>
            <a:srgbClr val="D09B3E"/>
          </a:solidFill>
          <a:ln w="12700">
            <a:solidFill>
              <a:srgbClr val="D09B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Insights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is the evidence, and what can be predicted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STATISTICS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histogram is itself a finding</a:t>
            </a:r>
            <a:endParaRPr lang="en-US" sz="3200" dirty="0"/>
          </a:p>
        </p:txBody>
      </p:sp>
      <p:pic>
        <p:nvPicPr>
          <p:cNvPr id="4" name="Image 0" descr="/home/user/BED108_BusinessAnalytics/docs/figures/cp2_fig1_histo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85800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6384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54.2%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4414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— coefficient of variation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880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6301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— far less predictable, skew +0.94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206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revenue target does not manage profit.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flat distribution is what a random number generator produces — our own descriptive statistics confirm the data is synthetic.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 2, Task 2.2. n = 1,194 transaction lines, ten bins of 1,000.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STATISTICS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driver, and one strategy the data 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0.923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1576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orders → monthly 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explains about 85% of the variation in monthly revenue.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inferred this. Checkpoint 2 measures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85232" cy="3566160"/>
          </a:xfrm>
          <a:prstGeom prst="roundRect">
            <a:avLst>
              <a:gd name="adj" fmla="val 2051"/>
            </a:avLst>
          </a:prstGeom>
          <a:solidFill>
            <a:srgbClr val="FBF0F0"/>
          </a:solidFill>
          <a:ln w="12700">
            <a:solidFill>
              <a:srgbClr val="FB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0.045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1576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→ order value · p = 0.123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2004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relationship, and not statistically significant.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result we are keeping: a "sell more units" target would not move revenue in this business.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not causation — the association is strong and consistent over 57 months, which is not the same as one causing the other.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 2, Task 2.3. n = 57 months and 1,194 lines respectively.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STATISTICS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count drives revenue — measured, not inferred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109115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 =  −1,353.65  +  5,224.25 × Orders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90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0.8514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month-to-month variation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292608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1024" y="3090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17.75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degrees of freedom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292608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3090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8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1.98 × 10⁻²⁴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is not zero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34272" y="292608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7152" y="3090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5,178.09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mean order value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makes this convincing: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lands within 0.9% of the plain mean order value. The regression rediscovered it without being told.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orders a month below the 2022 level ≈ 250,000 a year.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reached 257,297 by summing category shortfalls — two independent methods within 3%.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 2, Task 2.4. n = 57 complete months, April 2020 – December 2024.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STATISTICS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regimes — and a forecast that lost</a:t>
            </a:r>
            <a:endParaRPr lang="en-US" sz="3200" dirty="0"/>
          </a:p>
        </p:txBody>
      </p:sp>
      <p:pic>
        <p:nvPicPr>
          <p:cNvPr id="4" name="Image 0" descr="/home/user/BED108_BusinessAnalytics/docs/figures/cp2_fig4_forec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1323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554480"/>
            <a:ext cx="3413455" cy="3749040"/>
          </a:xfrm>
          <a:prstGeom prst="roundRect">
            <a:avLst>
              <a:gd name="adj" fmla="val 2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810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 growth rate?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267712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across all 57 months explains under 1% — R² = 0.0078, p = 0.515.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"no trend". It is that no single line fits both regimes — the up-slope and the flat cancel out.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forecast uses level and seasonality, not a growth rate we cannot demonstrate.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544068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BF0F0"/>
          </a:solidFill>
          <a:ln w="12700">
            <a:solidFill>
              <a:srgbClr val="FBF0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4406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honestly: our seasonal forecast lost to a flat average.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 mean absolute error against 14.9%. We report it and keep the method, because choosing on two observations is overfitting the holdout.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 2, Task 2.5. Holdout: January and February 2025.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420624" cy="420624"/>
          </a:xfrm>
          <a:prstGeom prst="ellipse">
            <a:avLst/>
          </a:prstGeom>
          <a:solidFill>
            <a:srgbClr val="D09B3E"/>
          </a:solidFill>
          <a:ln w="12700">
            <a:solidFill>
              <a:srgbClr val="D09B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Demo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pages, built in Power BI on the same database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Executive Summary: four KPI cards, the 57-month trend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95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Trend &amp; Comparison: category lines, sub-category change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714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Deep Dive: the customer and product segments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469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D0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live: the segment slicer on Page 3</a:t>
            </a:r>
            <a:endParaRPr lang="en-US" sz="1400" dirty="0"/>
          </a:p>
        </p:txBody>
      </p:sp>
      <p:pic>
        <p:nvPicPr>
          <p:cNvPr id="10" name="Image 0" descr="/home/user/BED108_BusinessAnalytics/docs/figures/cp3_fig3_wirefr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1188720"/>
            <a:ext cx="2377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DASHBOARD · SEGMENTATION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largest customer group returns the least profit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7223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13455" cy="3749040"/>
          </a:xfrm>
          <a:prstGeom prst="roundRect">
            <a:avLst>
              <a:gd name="adj" fmla="val 2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k = 3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2402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 customers clustered on value, margin and recency. k chosen by silhouette.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Thin-Margin Buyers: 43% of customers, a third of revenue — and 19% of the profit.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Buyers turn less revenue into 43% of it. A sales push aimed at revenue would chase the wrong group.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 3, Task 3.3. Recency separated nothing; frequency spans 1–4 lines only.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420624" cy="420624"/>
          </a:xfrm>
          <a:prstGeom prst="ellipse">
            <a:avLst/>
          </a:prstGeom>
          <a:solidFill>
            <a:srgbClr val="D09B3E"/>
          </a:solidFill>
          <a:ln w="12700">
            <a:solidFill>
              <a:srgbClr val="D09B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regression — and what happened when we tested it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PREDICTIVE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extended the model. The simple one still wins.</a:t>
            </a:r>
            <a:endParaRPr lang="en-US" sz="3200" dirty="0"/>
          </a:p>
        </p:txBody>
      </p:sp>
      <p:pic>
        <p:nvPicPr>
          <p:cNvPr id="4" name="Image 0" descr="/home/user/BED108_BusinessAnalytics/docs/figures/cp4_fig1_actual_vs_predi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72768"/>
            <a:ext cx="69494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572768"/>
            <a:ext cx="3596335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1810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— six unseen months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194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8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9443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only — the CP2 baseline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429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1788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regression, five predictors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956048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956048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why present it? Because the value is diagnostic.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(p = 0.79), customer count (p = 0.27), product mix (p = 0.48) and elapsed time (p = 0.55) were each given a fair chance alongside order count. None explained anything — which is the evidence behind building the dashboard on order count.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 4, Task 4.1. Trained on 51 months, six held out. R² = 0.8647, adjusted R² = 0.8514.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recommendations, each tied to a measurement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count, not revenue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0.923 · the only predictor that survives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20624" cy="420624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42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Printers first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8950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136,865 lost — over half the entire gap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420624" cy="420624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107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seasonality by category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5818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peaks Q2; the others Q4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420624" cy="420624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793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on margin, not revenue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2686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customers return 19% of profit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166360"/>
            <a:ext cx="420624" cy="420624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480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volume and acquisition targets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4955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customer count predict nothing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1645920"/>
            <a:ext cx="3962095" cy="4114800"/>
          </a:xfrm>
          <a:prstGeom prst="roundRect">
            <a:avLst>
              <a:gd name="adj" fmla="val 1846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stand behind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24688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whose defects are documented rather than hidden.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normalised schema with constraints that are enforced and tested.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verified on two database engines.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tested for significance rather than eyeballed — with the negative results reported alongside the positive.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ETHICS &amp; GOVERNANCE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Ethics, privacy and governance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65960"/>
            <a:ext cx="292608" cy="292608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53312" y="19110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048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are synthetic, so there is no data subject and R.A. 10173 is not engaged. Not because the file is public — public availability is not consent.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965960"/>
            <a:ext cx="292608" cy="292608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31152" y="19110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048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segmentation is the risk. Labelling 350 customers "Thin-Margin" is accurate, and on real data it is a mechanism by which poorer customers get served worse.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4114800"/>
            <a:ext cx="292608" cy="292608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53312" y="40599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5371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owner for the customer dimension, analysts on pseudonymised views, a retention rule, and reproducible lineage.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4114800"/>
            <a:ext cx="292608" cy="292608"/>
          </a:xfrm>
          <a:prstGeom prst="ellipse">
            <a:avLst/>
          </a:prstGeom>
          <a:solidFill>
            <a:srgbClr val="D09B3E"/>
          </a:solidFill>
          <a:ln w="12700">
            <a:solidFill>
              <a:srgbClr val="D09B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1152" y="40599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55371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R.A. 10173 on proportionality, purpose and the right to object. GDPR Article 22 on automated decisions — a line our clustering is closer to than it looks.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reflection: Checkpoint 4, Task 4.2 — 1,153 words against a 500-word minimum.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not claim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476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synthetic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591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illustrate a method; they do not describe a real company. We proved it with five signals and did not invent corrections.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319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 is weak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730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 mean absolute error against a flat average's 14.9%. We measured our own error rather than dropping the test.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6908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is not causation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1023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and revenue move together over 57 months. That is not proof one causes the other.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that only reports what worked is a sales deck. These three are why this one is analysis.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member can answer on any part of the project.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dataset is fake — what is the project worth?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9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illustrate a method. Every query, statistic and model would run identically on a real export.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850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multiple regression performed worse. Why present it?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1421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is diagnostic: it rules out units, customers, mix and time as drivers.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89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clusters and not five?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1888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scores higher, but two of its five had the same profile — and the brief asks for two or three.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9437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differently?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23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completeness of both ends of the date range first. That caused our one real error.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99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Trend Analysis — Final Defense</dc:title>
  <dc:subject>PptxGenJS Presentation</dc:subject>
  <dc:creator>BED 106 Capstone Group</dc:creator>
  <cp:lastModifiedBy>BED 106 Capstone Group</cp:lastModifiedBy>
  <cp:revision>1</cp:revision>
  <dcterms:created xsi:type="dcterms:W3CDTF">2026-09-20T08:51:06Z</dcterms:created>
  <dcterms:modified xsi:type="dcterms:W3CDTF">2026-09-20T08:51:06Z</dcterms:modified>
</cp:coreProperties>
</file>